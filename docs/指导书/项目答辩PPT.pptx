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62480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50800" cy="68580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反无人机空地协同系统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C4E0"/>
                </a:solidFill>
                <a:latin typeface="Microsoft YaHei"/>
              </a:defRPr>
            </a:pPr>
            <a:r>
              <a:t>Anti-Drone Air-Ground Collaboration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17520"/>
            <a:ext cx="2286000" cy="254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《人工智能实践》课程结课答辩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761"/>
                </a:solidFill>
                <a:latin typeface="Microsoft YaHei"/>
              </a:defRPr>
            </a:pPr>
            <a:r>
              <a:t>小  组：第 12 组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班  级：智科 1 班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组  长：陈鑫豪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组  员：万前进  何俊峰  李英楷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指导教师：叶景贞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答辩日期：2026 年 7 月 30 日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1645920" cy="381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17920"/>
            <a:ext cx="10545775" cy="1905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411480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371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项目背景与意义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6459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反无人机需求 · 研究动机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8727" y="1371600"/>
            <a:ext cx="411480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3087" y="1371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系统架构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3087" y="16459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四层架构 · 数据流 · 技术栈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377440"/>
            <a:ext cx="411480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3774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核心技术方案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6517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LQR跟踪 · 感知系统 · RL建模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2377440"/>
            <a:ext cx="411480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3087" y="23774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实验数据总览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3087" y="26517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5次训练运行 · 关键指标对比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383280"/>
            <a:ext cx="411480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383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DQN训练结果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6576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最佳运行 · 阶段分析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78727" y="3383280"/>
            <a:ext cx="411480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3087" y="3383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动作分布与详细指标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3087" y="36576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动作分布 · 平均指标 · 配置参数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389120"/>
            <a:ext cx="411480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3891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训练过程分析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6634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成功率趋势 · 损失曲线 · 碰撞分析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78727" y="4389120"/>
            <a:ext cx="411480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3087" y="43891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训练分析摘要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3087" y="46634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三阶段分析 · 关键发现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5394960"/>
            <a:ext cx="411480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53949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规则式避障实验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56692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场景实验 · 真实数据表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78727" y="5394960"/>
            <a:ext cx="411480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73087" y="53949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演示展示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73087" y="56692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仿真截图 · 飞行视频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Microsoft YaHei"/>
              </a:defRPr>
            </a:pPr>
            <a:r>
              <a:t>01  项目背景与意义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1645920" cy="381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6217920"/>
            <a:ext cx="10545775" cy="1905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10545775" cy="2011680"/>
          </a:xfrm>
          <a:prstGeom prst="rect">
            <a:avLst/>
          </a:prstGeom>
          <a:solidFill>
            <a:srgbClr val="F5F7FA"/>
          </a:solidFill>
          <a:ln w="1270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101800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Microsoft YaHei"/>
              </a:defRPr>
            </a:pPr>
            <a:r>
              <a:t>项目背景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101800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• 无人机广泛用于巡检、物流、安防等场景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• 黑飞无人机对敏感区域构成安全威胁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• 传统反无人机方法依赖人工操作，效率低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566160"/>
            <a:ext cx="10545775" cy="1828800"/>
          </a:xfrm>
          <a:prstGeom prst="rect">
            <a:avLst/>
          </a:prstGeom>
          <a:solidFill>
            <a:srgbClr val="F5F7FA"/>
          </a:solidFill>
          <a:ln w="1270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1800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Microsoft YaHei"/>
              </a:defRPr>
            </a:pPr>
            <a:r>
              <a:t>研究意义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1800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• 应用层面：提升反无人机系统的自动化程度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• 技术层面：融合LQR控制与强化学习决策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• 实践层面：构建完整的ROS仿真验证平台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Microsoft YaHei"/>
              </a:defRPr>
            </a:pPr>
            <a:r>
              <a:t>02  系统架构设计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1645920" cy="381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6217920"/>
            <a:ext cx="10545775" cy="1905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96012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感知层 (Perception)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Velodyne LiDAR → perception_node → 12维扇区特征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0" y="2286000"/>
            <a:ext cx="457200" cy="73152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514600"/>
            <a:ext cx="9601200" cy="9144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606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决策层 (Planning)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9718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rl_planner_node (DQN/规则式) → 避障偏移量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3429000"/>
            <a:ext cx="457200" cy="73152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3657600"/>
            <a:ext cx="9601200" cy="91440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跟踪层 (Control)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1148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lqr_tracker_node → LQR控制器 → 位置设定点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60" y="4572000"/>
            <a:ext cx="457200" cy="73152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4800600"/>
            <a:ext cx="9601200" cy="914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892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执行层 (Execution)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2578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MAVROS ↔ PX4 SITL ↔ Gazebo 仿真环境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943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F8C8D"/>
                </a:solidFill>
                <a:latin typeface="Microsoft YaHei"/>
              </a:defRPr>
            </a:pPr>
            <a:r>
              <a:t>数据流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1264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/velodyne_points → /obstacle_features → /rl_planner/local_goal → /mavros/setpoint_position/local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5943600"/>
            <a:ext cx="4114800" cy="640080"/>
          </a:xfrm>
          <a:prstGeom prst="rect">
            <a:avLst/>
          </a:prstGeom>
          <a:solidFill>
            <a:srgbClr val="F5F7FA"/>
          </a:solidFill>
          <a:ln w="1270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598932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ADCFC"/>
                </a:solidFill>
                <a:latin typeface="Microsoft YaHei"/>
              </a:defRPr>
            </a:pPr>
            <a:r>
              <a:t>技术栈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61722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Microsoft YaHei"/>
              </a:defRPr>
            </a:pPr>
            <a:r>
              <a:t>Ubuntu+ROS  |  Gazebo+XTDrone  |  PX4+MAVROS  |  PyTorch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Microsoft YaHei"/>
              </a:defRPr>
            </a:pPr>
            <a:r>
              <a:t>03  核心技术方案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1645920" cy="381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6217920"/>
            <a:ext cx="10545775" cy="1905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3393338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30275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761"/>
                </a:solidFill>
                <a:latin typeface="Microsoft YaHei"/>
              </a:defRPr>
            </a:pPr>
            <a:r>
              <a:t>LQR 轨迹跟踪控制器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302757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• 状态空间：位置误差 + 速度误差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• 控制律：u = -K·x，Riccati方程求解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• 轨迹：直线/圆形/8字形/悬停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• 8字形：ω=0.1 rad/s, v=0.3 m/s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• 发布 /mavros/setpoint_position/local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• 误差监控：位置/速度实时反馈</a:t>
            </a:r>
          </a:p>
        </p:txBody>
      </p:sp>
      <p:sp>
        <p:nvSpPr>
          <p:cNvPr id="9" name="Rectangle 8"/>
          <p:cNvSpPr/>
          <p:nvPr/>
        </p:nvSpPr>
        <p:spPr>
          <a:xfrm>
            <a:off x="4399178" y="1371600"/>
            <a:ext cx="3393338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2058" y="1463040"/>
            <a:ext cx="30275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ADCFC"/>
                </a:solidFill>
                <a:latin typeface="Microsoft YaHei"/>
              </a:defRPr>
            </a:pPr>
            <a:r>
              <a:t>感知系统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2058" y="1828800"/>
            <a:ext cx="302757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• Velodyne VLP-16 激光雷达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• 360° 环绕扫描，12个扇区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• 每扇区输出最近障碍物距离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• 话题：/obstacle_features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• 消息类型：ObstacleFeatures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• 最小量程 0.5m（过滤自身回波）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75396" y="1371600"/>
            <a:ext cx="3393338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8276" y="1463040"/>
            <a:ext cx="30275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A589"/>
                </a:solidFill>
                <a:latin typeface="Microsoft YaHei"/>
              </a:defRPr>
            </a:pPr>
            <a:r>
              <a:t>强化学习建模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8276" y="1828800"/>
            <a:ext cx="302757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• 状态空间（21维）：12扇区+目标方向+距离+速度+上一步动作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• 动作空间（5个）：沿路径/左移/右移/左上升/右上升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• 奖励：progress + success(+30) + collision(-30)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  + proximity_penalty + step_penalty + smoothness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• DQN：Q网络 + 目标网络 + ReplayBuffer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• ε-greedy探索（1.0→0.05, 12000步）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Microsoft YaHei"/>
              </a:defRPr>
            </a:pPr>
            <a:r>
              <a:t>04  实验数据总览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1645920" cy="381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Microsoft YaHei"/>
              </a:defRPr>
            </a:pPr>
            <a:r>
              <a:t>5次DQN训练运行 · 关键指标对比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17920"/>
            <a:ext cx="10545775" cy="1905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1645920" cy="347472"/>
          </a:xfrm>
          <a:prstGeom prst="rect">
            <a:avLst/>
          </a:prstGeom>
          <a:solidFill>
            <a:srgbClr val="1E2761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399032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运行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371600"/>
            <a:ext cx="2286000" cy="347472"/>
          </a:xfrm>
          <a:prstGeom prst="rect">
            <a:avLst/>
          </a:prstGeom>
          <a:solidFill>
            <a:srgbClr val="1E2761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23744" y="1399032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Episode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371600"/>
            <a:ext cx="2286000" cy="347472"/>
          </a:xfrm>
          <a:prstGeom prst="rect">
            <a:avLst/>
          </a:prstGeom>
          <a:solidFill>
            <a:srgbClr val="1E2761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9744" y="1399032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最佳成功率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1371600"/>
            <a:ext cx="1828800" cy="347472"/>
          </a:xfrm>
          <a:prstGeom prst="rect">
            <a:avLst/>
          </a:prstGeom>
          <a:solidFill>
            <a:srgbClr val="1E2761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95744" y="1399032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状态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1719072"/>
            <a:ext cx="16459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1746504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852395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1719072"/>
            <a:ext cx="22860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23744" y="1746504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300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1719072"/>
            <a:ext cx="22860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9744" y="1746504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1719072"/>
            <a:ext cx="18288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95744" y="1746504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完成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2066544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2093976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108909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68880" y="2066544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23744" y="2093976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2066544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9744" y="2093976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0" y="2066544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95744" y="2093976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完成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2414016"/>
            <a:ext cx="16459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2441448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340632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68880" y="2414016"/>
            <a:ext cx="22860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23744" y="2441448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72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2414016"/>
            <a:ext cx="22860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09744" y="2441448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40880" y="2414016"/>
            <a:ext cx="18288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95744" y="2441448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中断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" y="2761488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2788920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331115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68880" y="2761488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23744" y="2788920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215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54880" y="2761488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09744" y="2788920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60%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40880" y="2761488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95744" y="2788920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中断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" y="3108960"/>
            <a:ext cx="16459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7824" y="3136392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352023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68880" y="3108960"/>
            <a:ext cx="22860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523744" y="3136392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239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54880" y="3108960"/>
            <a:ext cx="22860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09744" y="3136392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040880" y="3108960"/>
            <a:ext cx="18288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95744" y="3136392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中断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Microsoft YaHei"/>
              </a:defRPr>
            </a:pPr>
            <a:r>
              <a:t>05  DQN训练结果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1645920" cy="381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Microsoft YaHei"/>
              </a:defRPr>
            </a:pPr>
            <a:r>
              <a:t>最佳运行（Run 5: 150505）详细分析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17920"/>
            <a:ext cx="10545775" cy="1905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2567863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238498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总Episode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238498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  <a:latin typeface="Microsoft YaHei"/>
              </a:defRPr>
            </a:pPr>
            <a:r>
              <a:t>239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238498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完成239个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82263" y="1371600"/>
            <a:ext cx="2567863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3703" y="1417320"/>
            <a:ext cx="238498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成功数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3703" y="1645920"/>
            <a:ext cx="238498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Microsoft YaHei"/>
              </a:defRPr>
            </a:pPr>
            <a:r>
              <a:t>115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3703" y="2011680"/>
            <a:ext cx="238498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成功率 48%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1567" y="1371600"/>
            <a:ext cx="2567863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3007" y="1417320"/>
            <a:ext cx="238498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总训练步数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3007" y="1645920"/>
            <a:ext cx="238498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ADCFC"/>
                </a:solidFill>
                <a:latin typeface="Microsoft YaHei"/>
              </a:defRPr>
            </a:pPr>
            <a:r>
              <a:t>21,892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3007" y="2011680"/>
            <a:ext cx="238498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更新步数 20,893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00871" y="1371600"/>
            <a:ext cx="2567863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92311" y="1417320"/>
            <a:ext cx="238498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最佳连续成功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2311" y="1645920"/>
            <a:ext cx="238498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2311" y="2011680"/>
            <a:ext cx="238498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连续成功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56032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Microsoft YaHei"/>
              </a:defRPr>
            </a:pPr>
            <a:r>
              <a:t>分阶段训练表现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2926080"/>
            <a:ext cx="3200400" cy="347472"/>
          </a:xfrm>
          <a:prstGeom prst="rect">
            <a:avLst/>
          </a:prstGeom>
          <a:solidFill>
            <a:srgbClr val="1E2761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2953512"/>
            <a:ext cx="3090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阶段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360" y="2926080"/>
            <a:ext cx="1828800" cy="347472"/>
          </a:xfrm>
          <a:prstGeom prst="rect">
            <a:avLst/>
          </a:prstGeom>
          <a:solidFill>
            <a:srgbClr val="1E2761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78224" y="2953512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Episode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160" y="2926080"/>
            <a:ext cx="1828800" cy="347472"/>
          </a:xfrm>
          <a:prstGeom prst="rect">
            <a:avLst/>
          </a:prstGeom>
          <a:solidFill>
            <a:srgbClr val="1E2761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07024" y="2953512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成功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2926080"/>
            <a:ext cx="1828800" cy="347472"/>
          </a:xfrm>
          <a:prstGeom prst="rect">
            <a:avLst/>
          </a:prstGeom>
          <a:solidFill>
            <a:srgbClr val="1E2761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35824" y="2953512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失败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9760" y="2926080"/>
            <a:ext cx="1828800" cy="347472"/>
          </a:xfrm>
          <a:prstGeom prst="rect">
            <a:avLst/>
          </a:prstGeom>
          <a:solidFill>
            <a:srgbClr val="1E2761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64624" y="2953512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成功率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3273552"/>
            <a:ext cx="32004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7824" y="3300984"/>
            <a:ext cx="3090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早期 (0-79)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23360" y="3273552"/>
            <a:ext cx="18288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78224" y="3300984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52160" y="3273552"/>
            <a:ext cx="18288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07024" y="3300984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80960" y="3273552"/>
            <a:ext cx="18288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35824" y="3300984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55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09760" y="3273552"/>
            <a:ext cx="18288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64624" y="3300984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31%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" y="3621024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" y="3648456"/>
            <a:ext cx="3090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中期 (80-159)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023360" y="3621024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78224" y="3648456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52160" y="3621024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07024" y="3648456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37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80960" y="3621024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35824" y="3648456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43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09760" y="3621024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64624" y="3648456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46%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" y="3968496"/>
            <a:ext cx="32004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7824" y="3995928"/>
            <a:ext cx="3090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后期 (160-238)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023360" y="3968496"/>
            <a:ext cx="18288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078224" y="3995928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79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52160" y="3968496"/>
            <a:ext cx="18288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07024" y="3995928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53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80960" y="3968496"/>
            <a:ext cx="18288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35824" y="3995928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26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09760" y="3968496"/>
            <a:ext cx="18288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64624" y="3995928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67%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Microsoft YaHei"/>
              </a:defRPr>
            </a:pPr>
            <a:r>
              <a:t>06  DQN 动作分布与详细指标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1645920" cy="381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Microsoft YaHei"/>
              </a:defRPr>
            </a:pPr>
            <a:r>
              <a:t>最佳运行（Run 5）动作分布、平均指标与训练配置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17920"/>
            <a:ext cx="10545775" cy="1905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Microsoft YaHei"/>
              </a:defRPr>
            </a:pPr>
            <a:r>
              <a:t>动作分布（全训练期）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737360"/>
            <a:ext cx="1645920" cy="347472"/>
          </a:xfrm>
          <a:prstGeom prst="rect">
            <a:avLst/>
          </a:prstGeom>
          <a:solidFill>
            <a:srgbClr val="CADCFC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764792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动作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1737360"/>
            <a:ext cx="1645920" cy="347472"/>
          </a:xfrm>
          <a:prstGeom prst="rect">
            <a:avLst/>
          </a:prstGeom>
          <a:solidFill>
            <a:srgbClr val="CADCFC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23744" y="1764792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次数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737360"/>
            <a:ext cx="1645920" cy="347472"/>
          </a:xfrm>
          <a:prstGeom prst="rect">
            <a:avLst/>
          </a:prstGeom>
          <a:solidFill>
            <a:srgbClr val="CADCFC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9664" y="1764792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占比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084832"/>
            <a:ext cx="16459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2112264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沿路径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2084832"/>
            <a:ext cx="16459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23744" y="2112264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5,750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2084832"/>
            <a:ext cx="16459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9664" y="2112264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26.3%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2432304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2459736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左移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0" y="2432304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23744" y="2459736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4,718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2432304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69664" y="2459736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21.6%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2779776"/>
            <a:ext cx="16459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2807208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右移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68880" y="2779776"/>
            <a:ext cx="16459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23744" y="2807208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3,287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2779776"/>
            <a:ext cx="16459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69664" y="2807208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15.1%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3127248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3154680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上升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68880" y="3127248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23744" y="3154680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8,082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0" y="3127248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69664" y="3154680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37.0%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32004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Microsoft YaHei"/>
              </a:defRPr>
            </a:pPr>
            <a:r>
              <a:t>平均指标对比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" y="3566160"/>
            <a:ext cx="1371600" cy="347472"/>
          </a:xfrm>
          <a:prstGeom prst="rect">
            <a:avLst/>
          </a:prstGeom>
          <a:solidFill>
            <a:srgbClr val="1E2761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3593592"/>
            <a:ext cx="1261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类别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94560" y="3566160"/>
            <a:ext cx="1280160" cy="347472"/>
          </a:xfrm>
          <a:prstGeom prst="rect">
            <a:avLst/>
          </a:prstGeom>
          <a:solidFill>
            <a:srgbClr val="1E2761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49424" y="3593592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奖励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74720" y="3566160"/>
            <a:ext cx="1280160" cy="347472"/>
          </a:xfrm>
          <a:prstGeom prst="rect">
            <a:avLst/>
          </a:prstGeom>
          <a:solidFill>
            <a:srgbClr val="1E2761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29584" y="3593592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步数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0" y="3566160"/>
            <a:ext cx="1280160" cy="347472"/>
          </a:xfrm>
          <a:prstGeom prst="rect">
            <a:avLst/>
          </a:prstGeom>
          <a:solidFill>
            <a:srgbClr val="1E2761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09744" y="3593592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位置误差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" y="3913632"/>
            <a:ext cx="13716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7824" y="3941064"/>
            <a:ext cx="1261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成功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94560" y="3913632"/>
            <a:ext cx="128016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49424" y="3941064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+31.7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74720" y="3913632"/>
            <a:ext cx="128016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29584" y="3941064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119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54880" y="3913632"/>
            <a:ext cx="128016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09744" y="3941064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0.72m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2960" y="4261104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7824" y="4288536"/>
            <a:ext cx="1261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失败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94560" y="4261104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249424" y="4288536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-29.0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74720" y="4261104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29584" y="4288536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66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754880" y="4261104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809744" y="4288536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0.94m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2960" y="4608576"/>
            <a:ext cx="13716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7824" y="4636008"/>
            <a:ext cx="1261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所有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194560" y="4608576"/>
            <a:ext cx="128016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249424" y="4636008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+0.2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474720" y="4608576"/>
            <a:ext cx="128016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529584" y="4636008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91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754880" y="4608576"/>
            <a:ext cx="128016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809744" y="4636008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-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00800" y="1371600"/>
            <a:ext cx="49679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Microsoft YaHei"/>
              </a:defRPr>
            </a:pPr>
            <a:r>
              <a:t>训练配置参数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00800" y="1737360"/>
            <a:ext cx="49679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学习率 (learning_rate):  0.001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折扣因子 (gamma):        0.99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批次大小 (batch_size):   32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经验池容量 (buffer):     50000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ε-初始:                  1.0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ε-最终:                  0.05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ε-衰减步数:              12000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目标网络更新步数:        500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训练起始步数:            1000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Episode数:               300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每Episode最大步数:       150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评估间隔:                20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奖励函数版本:            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Microsoft YaHei"/>
              </a:defRPr>
            </a:pPr>
            <a:r>
              <a:t>07  训练过程分析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1645920" cy="381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Microsoft YaHei"/>
              </a:defRPr>
            </a:pPr>
            <a:r>
              <a:t>Run 5 训练过程详细数据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17920"/>
            <a:ext cx="10545775" cy="1905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Microsoft YaHei"/>
              </a:defRPr>
            </a:pPr>
            <a:r>
              <a:t>阶段性成功率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F8C8D"/>
                </a:solidFill>
                <a:latin typeface="Microsoft YaHei"/>
              </a:defRPr>
            </a:pPr>
            <a:r>
              <a:t>0-19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1554480"/>
            <a:ext cx="1143000" cy="2011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88920" y="1554480"/>
            <a:ext cx="3429000" cy="2011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92224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F8C8D"/>
                </a:solidFill>
                <a:latin typeface="Microsoft YaHei"/>
              </a:defRPr>
            </a:pPr>
            <a:r>
              <a:t>20-39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0" y="1792224"/>
            <a:ext cx="1828800" cy="2011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1792224"/>
            <a:ext cx="2743200" cy="2011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029968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F8C8D"/>
                </a:solidFill>
                <a:latin typeface="Microsoft YaHei"/>
              </a:defRPr>
            </a:pPr>
            <a:r>
              <a:t>40-59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0" y="2029968"/>
            <a:ext cx="1371600" cy="2011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17520" y="2029968"/>
            <a:ext cx="3200400" cy="2011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267712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F8C8D"/>
                </a:solidFill>
                <a:latin typeface="Microsoft YaHei"/>
              </a:defRPr>
            </a:pPr>
            <a:r>
              <a:t>60-79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0" y="2267712"/>
            <a:ext cx="1371600" cy="2011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17520" y="2267712"/>
            <a:ext cx="3200400" cy="2011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505456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F8C8D"/>
                </a:solidFill>
                <a:latin typeface="Microsoft YaHei"/>
              </a:defRPr>
            </a:pPr>
            <a:r>
              <a:t>80-99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0" y="2505456"/>
            <a:ext cx="685800" cy="2011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31720" y="2505456"/>
            <a:ext cx="3886200" cy="2011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274320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F8C8D"/>
                </a:solidFill>
                <a:latin typeface="Microsoft YaHei"/>
              </a:defRPr>
            </a:pPr>
            <a:r>
              <a:t>100-119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0" y="2743200"/>
            <a:ext cx="1600200" cy="2011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46120" y="2743200"/>
            <a:ext cx="2971800" cy="2011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2980944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F8C8D"/>
                </a:solidFill>
                <a:latin typeface="Microsoft YaHei"/>
              </a:defRPr>
            </a:pPr>
            <a:r>
              <a:t>120-139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0" y="2980944"/>
            <a:ext cx="2286000" cy="2011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931920" y="2980944"/>
            <a:ext cx="2286000" cy="2011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218688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F8C8D"/>
                </a:solidFill>
                <a:latin typeface="Microsoft YaHei"/>
              </a:defRPr>
            </a:pPr>
            <a:r>
              <a:t>140-159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45920" y="3218688"/>
            <a:ext cx="3886200" cy="2011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32120" y="3218688"/>
            <a:ext cx="685800" cy="2011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456432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F8C8D"/>
                </a:solidFill>
                <a:latin typeface="Microsoft YaHei"/>
              </a:defRPr>
            </a:pPr>
            <a:r>
              <a:t>160-179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45920" y="3456432"/>
            <a:ext cx="2514600" cy="2011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60520" y="3456432"/>
            <a:ext cx="2057400" cy="2011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3694176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F8C8D"/>
                </a:solidFill>
                <a:latin typeface="Microsoft YaHei"/>
              </a:defRPr>
            </a:pPr>
            <a:r>
              <a:t>180-199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45920" y="3694176"/>
            <a:ext cx="4114800" cy="2011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60720" y="3694176"/>
            <a:ext cx="457200" cy="2011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393192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F8C8D"/>
                </a:solidFill>
                <a:latin typeface="Microsoft YaHei"/>
              </a:defRPr>
            </a:pPr>
            <a:r>
              <a:t>200-219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45920" y="3931920"/>
            <a:ext cx="3886200" cy="2011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532120" y="3931920"/>
            <a:ext cx="685800" cy="2011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4169664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F8C8D"/>
                </a:solidFill>
                <a:latin typeface="Microsoft YaHei"/>
              </a:defRPr>
            </a:pPr>
            <a:r>
              <a:t>220-238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45920" y="4169664"/>
            <a:ext cx="1600200" cy="2011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46120" y="4169664"/>
            <a:ext cx="2743200" cy="2011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645920" y="4480560"/>
            <a:ext cx="274320" cy="1645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11680" y="4480560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CC71"/>
                </a:solidFill>
                <a:latin typeface="Microsoft YaHei"/>
              </a:defRPr>
            </a:pPr>
            <a:r>
              <a:t>成功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34640" y="4480560"/>
            <a:ext cx="274320" cy="16459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0" y="4480560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74C3C"/>
                </a:solidFill>
                <a:latin typeface="Microsoft YaHei"/>
              </a:defRPr>
            </a:pPr>
            <a:r>
              <a:t>失败(碰撞)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Microsoft YaHei"/>
              </a:defRPr>
            </a:pPr>
            <a:r>
              <a:t>评估指标趋势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0" y="1554480"/>
            <a:ext cx="1097280" cy="347472"/>
          </a:xfrm>
          <a:prstGeom prst="rect">
            <a:avLst/>
          </a:prstGeom>
          <a:solidFill>
            <a:srgbClr val="CADCFC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81344" y="1581912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评估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23760" y="1554480"/>
            <a:ext cx="1097280" cy="347472"/>
          </a:xfrm>
          <a:prstGeom prst="rect">
            <a:avLst/>
          </a:prstGeom>
          <a:solidFill>
            <a:srgbClr val="CADCFC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78624" y="1581912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成功率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21040" y="1554480"/>
            <a:ext cx="1097280" cy="347472"/>
          </a:xfrm>
          <a:prstGeom prst="rect">
            <a:avLst/>
          </a:prstGeom>
          <a:solidFill>
            <a:srgbClr val="CADCFC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75904" y="1581912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碰撞率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18320" y="1554480"/>
            <a:ext cx="1097280" cy="347472"/>
          </a:xfrm>
          <a:prstGeom prst="rect">
            <a:avLst/>
          </a:prstGeom>
          <a:solidFill>
            <a:srgbClr val="CADCFC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73184" y="1581912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平均奖励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515600" y="1554480"/>
            <a:ext cx="914400" cy="347472"/>
          </a:xfrm>
          <a:prstGeom prst="rect">
            <a:avLst/>
          </a:prstGeom>
          <a:solidFill>
            <a:srgbClr val="CADCFC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70464" y="1581912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步骤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26480" y="1901952"/>
            <a:ext cx="10972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81344" y="1929384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223760" y="1901952"/>
            <a:ext cx="10972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78624" y="1929384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321040" y="1901952"/>
            <a:ext cx="10972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75904" y="1929384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0%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18320" y="1901952"/>
            <a:ext cx="10972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473184" y="1929384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+32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515600" y="1901952"/>
            <a:ext cx="9144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570464" y="1929384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125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26480" y="2249424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81344" y="2276856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223760" y="2249424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278624" y="2276856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40%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321040" y="2249424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375904" y="2276856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60%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418320" y="2249424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473184" y="2276856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-5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515600" y="2249424"/>
            <a:ext cx="914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570464" y="2276856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26480" y="2596896"/>
            <a:ext cx="10972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181344" y="2624328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#3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223760" y="2596896"/>
            <a:ext cx="10972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278624" y="2624328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321040" y="2596896"/>
            <a:ext cx="10972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375904" y="2624328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20%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418320" y="2596896"/>
            <a:ext cx="10972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473184" y="2624328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+20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515600" y="2596896"/>
            <a:ext cx="9144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570464" y="2624328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101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126480" y="2944368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181344" y="2971800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#4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223760" y="2944368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278624" y="2971800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40%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321040" y="2944368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375904" y="2971800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60%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418320" y="2944368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473184" y="2971800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-5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515600" y="2944368"/>
            <a:ext cx="914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570464" y="2971800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74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26480" y="3291840"/>
            <a:ext cx="10972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81344" y="3319272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#5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223760" y="3291840"/>
            <a:ext cx="10972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278624" y="3319272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0%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321040" y="3291840"/>
            <a:ext cx="10972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375904" y="3319272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418320" y="3291840"/>
            <a:ext cx="10972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473184" y="3319272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-29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515600" y="3291840"/>
            <a:ext cx="9144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570464" y="3319272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65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126480" y="3639312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181344" y="3666744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#6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223760" y="3639312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278624" y="3666744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321040" y="3639312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375904" y="3666744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0%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418320" y="3639312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473184" y="3666744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+32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515600" y="3639312"/>
            <a:ext cx="914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0570464" y="3666744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126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126480" y="3986784"/>
            <a:ext cx="10972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181344" y="4014216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#7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223760" y="3986784"/>
            <a:ext cx="10972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278624" y="4014216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321040" y="3986784"/>
            <a:ext cx="10972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375904" y="4014216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0%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418320" y="3986784"/>
            <a:ext cx="10972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473184" y="4014216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+32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0515600" y="3986784"/>
            <a:ext cx="9144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0570464" y="4014216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126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126480" y="4334256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181344" y="4361688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#8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223760" y="4334256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7278624" y="4361688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321040" y="4334256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375904" y="4361688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0%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418320" y="4334256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473184" y="4361688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+33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0515600" y="4334256"/>
            <a:ext cx="914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0570464" y="4361688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125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126480" y="4681728"/>
            <a:ext cx="10972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181344" y="4709160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#9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223760" y="4681728"/>
            <a:ext cx="10972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278624" y="4709160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321040" y="4681728"/>
            <a:ext cx="10972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375904" y="4709160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0%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418320" y="4681728"/>
            <a:ext cx="10972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473184" y="4709160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+32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0515600" y="4681728"/>
            <a:ext cx="9144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0570464" y="4709160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126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126480" y="5029200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181344" y="5056632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#10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223760" y="5029200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7278624" y="5056632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8321040" y="5029200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375904" y="5056632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0%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9418320" y="5029200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9473184" y="5056632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+32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0515600" y="5029200"/>
            <a:ext cx="914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0570464" y="5056632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127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126480" y="5376672"/>
            <a:ext cx="10972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181344" y="5404104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#11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7223760" y="5376672"/>
            <a:ext cx="10972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7278624" y="5404104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40%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8321040" y="5376672"/>
            <a:ext cx="10972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8375904" y="5404104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60%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9418320" y="5376672"/>
            <a:ext cx="10972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9473184" y="5404104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-5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0515600" y="5376672"/>
            <a:ext cx="9144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0570464" y="5404104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82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Microsoft YaHei"/>
              </a:defRPr>
            </a:pPr>
            <a:r>
              <a:t>08  训练分析摘要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1645920" cy="381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Microsoft YaHei"/>
              </a:defRPr>
            </a:pPr>
            <a:r>
              <a:t>Run 5 三阶段训练过程分析与关键发现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17920"/>
            <a:ext cx="10545775" cy="1905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3393338" cy="2743200"/>
          </a:xfrm>
          <a:prstGeom prst="rect">
            <a:avLst/>
          </a:prstGeom>
          <a:solidFill>
            <a:srgbClr val="F5F7FA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371600"/>
            <a:ext cx="3393338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17320"/>
            <a:ext cx="311901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早期（0-79 Episode）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645920"/>
            <a:ext cx="31190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探索阶段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65960"/>
            <a:ext cx="311901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ε从1.0逐渐衰减，以随机探索为主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碰撞率高，但已出现成功避障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成功episode逐步增加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奖励波动较大，策略未收敛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99178" y="1371600"/>
            <a:ext cx="3393338" cy="2743200"/>
          </a:xfrm>
          <a:prstGeom prst="rect">
            <a:avLst/>
          </a:prstGeom>
          <a:solidFill>
            <a:srgbClr val="F5F7FA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371600"/>
            <a:ext cx="3393338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6338" y="1417320"/>
            <a:ext cx="311901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中期（80-159 Episode）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6338" y="1645920"/>
            <a:ext cx="31190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策略形成阶段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6338" y="1965960"/>
            <a:ext cx="311901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ε降至约0.5，探索与利用平衡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多组成功率超过50%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策略趋于稳定，碰撞减少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奖励曲线趋于平滑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75396" y="1371600"/>
            <a:ext cx="3393338" cy="2743200"/>
          </a:xfrm>
          <a:prstGeom prst="rect">
            <a:avLst/>
          </a:prstGeom>
          <a:solidFill>
            <a:srgbClr val="F5F7FA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75396" y="1371600"/>
            <a:ext cx="3393338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2556" y="1417320"/>
            <a:ext cx="311901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后期（160-238 Episode）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2556" y="1645920"/>
            <a:ext cx="31190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策略成熟阶段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2556" y="1965960"/>
            <a:ext cx="311901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ε降至0.05，以利用为主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连续多组保持高成功率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最佳连续成功13次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仍存在偶发碰撞（边界情况）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38912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Microsoft YaHei"/>
              </a:defRPr>
            </a:pPr>
            <a:r>
              <a:t>关键发现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75488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① DQN策略从随机探索到稳定避障的收敛过程清晰，后期成功率明显优于早期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② 连续成功表明模型已学到有效的避障策略，但偶发碰撞提示边界情况仍需优化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③ 奖励函数设计合理：progress引导沿路径前进，collision惩罚有效抑制碰撞行为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④ 经验回放机制使训练稳定，ε-greedy探索策略有效平衡了探索与利用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Microsoft YaHei"/>
              </a:defRPr>
            </a:pPr>
            <a:r>
              <a:t>09  规则式避障实验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1645920" cy="381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Microsoft YaHei"/>
              </a:defRPr>
            </a:pPr>
            <a:r>
              <a:t>基于扇区距离的启发式避障基线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17920"/>
            <a:ext cx="10545775" cy="1905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Microsoft YaHei"/>
              </a:defRPr>
            </a:pPr>
            <a:r>
              <a:t>实验场景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691640"/>
            <a:ext cx="2545003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236212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761"/>
                </a:solidFill>
                <a:latin typeface="Microsoft YaHei"/>
              </a:defRPr>
            </a:pPr>
            <a:r>
              <a:t>S0 无障碍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236212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基础跟踪测试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50843" y="1691640"/>
            <a:ext cx="2545003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2283" y="1737360"/>
            <a:ext cx="236212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761"/>
                </a:solidFill>
                <a:latin typeface="Microsoft YaHei"/>
              </a:defRPr>
            </a:pPr>
            <a:r>
              <a:t>S1 稀疏静态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2283" y="2011680"/>
            <a:ext cx="236212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单障碍避障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8727" y="1691640"/>
            <a:ext cx="2545003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0167" y="1737360"/>
            <a:ext cx="236212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761"/>
                </a:solidFill>
                <a:latin typeface="Microsoft YaHei"/>
              </a:defRPr>
            </a:pPr>
            <a:r>
              <a:t>S2 密集静态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2011680"/>
            <a:ext cx="236212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多障碍连续避障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611" y="1691640"/>
            <a:ext cx="2545003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051" y="1737360"/>
            <a:ext cx="236212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761"/>
                </a:solidFill>
                <a:latin typeface="Microsoft YaHei"/>
              </a:defRPr>
            </a:pPr>
            <a:r>
              <a:t>S3 动态障碍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051" y="2011680"/>
            <a:ext cx="236212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移动障碍避障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65176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Microsoft YaHei"/>
              </a:defRPr>
            </a:pPr>
            <a:r>
              <a:t>规则式避障实验结果（2026-07-09）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063240"/>
            <a:ext cx="1645920" cy="347472"/>
          </a:xfrm>
          <a:prstGeom prst="rect">
            <a:avLst/>
          </a:prstGeom>
          <a:solidFill>
            <a:srgbClr val="1E2761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3090672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指标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8880" y="3063240"/>
            <a:ext cx="2286000" cy="347472"/>
          </a:xfrm>
          <a:prstGeom prst="rect">
            <a:avLst/>
          </a:prstGeom>
          <a:solidFill>
            <a:srgbClr val="1E2761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23744" y="3090672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数值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3063240"/>
            <a:ext cx="5943600" cy="347472"/>
          </a:xfrm>
          <a:prstGeom prst="rect">
            <a:avLst/>
          </a:prstGeom>
          <a:solidFill>
            <a:srgbClr val="1E2761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9744" y="3090672"/>
            <a:ext cx="5833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说明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3410712"/>
            <a:ext cx="16459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3438144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运行时长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8880" y="3410712"/>
            <a:ext cx="22860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23744" y="3438144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81.7 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0" y="3410712"/>
            <a:ext cx="59436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09744" y="3438144"/>
            <a:ext cx="5833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单次实验持续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3758184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3785616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记录条数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8880" y="3758184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23744" y="3785616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818 条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54880" y="3758184"/>
            <a:ext cx="5943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09744" y="3785616"/>
            <a:ext cx="5833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CSV记录总数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" y="4105656"/>
            <a:ext cx="16459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4133088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避障激活占比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68880" y="4105656"/>
            <a:ext cx="22860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23744" y="4133088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35.7%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54880" y="4105656"/>
            <a:ext cx="59436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09744" y="4133088"/>
            <a:ext cx="5833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is_avoiding=1 时间占比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" y="4453128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" y="4480560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位置误差均值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8880" y="4453128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23744" y="4480560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0.794 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54880" y="4453128"/>
            <a:ext cx="5943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09744" y="4480560"/>
            <a:ext cx="5833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中位0.676m，最大5.107m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" y="4800600"/>
            <a:ext cx="16459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7824" y="4828032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动作分布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68880" y="4800600"/>
            <a:ext cx="22860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23744" y="4828032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前进64.2% / 左移18.8% / 上升16.9%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54880" y="4800600"/>
            <a:ext cx="59436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09744" y="4828032"/>
            <a:ext cx="5833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规则式决策分布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Microsoft YaHei"/>
              </a:defRPr>
            </a:pPr>
            <a:r>
              <a:t>10  演示展示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1645920" cy="381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Microsoft YaHei"/>
              </a:defRPr>
            </a:pPr>
            <a:r>
              <a:t>仿真运行截图 &amp; 避障飞行视频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17920"/>
            <a:ext cx="10545775" cy="1905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6400800" cy="25603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80160" y="1371600"/>
            <a:ext cx="5486400" cy="127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仿真飞行演示视频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（待录制后插入）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推荐时长：30-60秒 · 展示LQR跟踪 + 避障全流程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0" y="1371600"/>
            <a:ext cx="3474720" cy="11887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0" y="1600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Gazebo仿真截图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21031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（待插入）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0" y="2743200"/>
            <a:ext cx="3474720" cy="11887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0" y="2971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DQN训练曲线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3474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（待插入训练曲线图）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0624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Microsoft YaHei"/>
              </a:defRPr>
            </a:pPr>
            <a:r>
              <a:t>演示内容建议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72000"/>
            <a:ext cx="1054577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①  Gazebo仿真环境启动 → 无人机起飞 → LQR 8字形轨迹跟踪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②  遇到障碍物 → 规则式避障规划器触发 → 绕行后回到轨迹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③  DQN训练过程展示（可选）：训练曲线、成功率变化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④  系统整体演示：感知 → 决策 → 跟踪 → 执行全链路闭环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Microsoft YaHei"/>
              </a:defRPr>
            </a:pPr>
            <a:r>
              <a:t>10  演示展示（续）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1645920" cy="381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Microsoft YaHei"/>
              </a:defRPr>
            </a:pPr>
            <a:r>
              <a:t>系统运行截图 &amp; 实验录制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17920"/>
            <a:ext cx="10545775" cy="1905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5181447" cy="18288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518144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场景S1：稀疏静态障碍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518144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无人机在LQR跟踪中遇到单个障碍物，触发避障绕行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51814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（待插入截图）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7287" y="1371600"/>
            <a:ext cx="5181447" cy="18288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7287" y="1691640"/>
            <a:ext cx="518144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场景S2：密集静态障碍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7287" y="2194560"/>
            <a:ext cx="518144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多障碍连续避障，规则式规划器实时决策绕行方向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7287" y="2651760"/>
            <a:ext cx="51814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（待插入截图）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474720"/>
            <a:ext cx="5181447" cy="18288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794760"/>
            <a:ext cx="518144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场景S3：动态障碍物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297680"/>
            <a:ext cx="518144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移动障碍物场景，测试避障策略的实时响应能力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754880"/>
            <a:ext cx="51814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（待插入截图/图表）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7287" y="3474720"/>
            <a:ext cx="5181447" cy="18288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87287" y="3794760"/>
            <a:ext cx="518144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实验数据可视化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7287" y="4297680"/>
            <a:ext cx="518144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训练曲线、成功率/碰撞率变化、动作分布图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7287" y="4754880"/>
            <a:ext cx="51814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（待插入截图/图表）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Microsoft YaHei"/>
              </a:defRPr>
            </a:pPr>
            <a:r>
              <a:t>11  项目进展与分工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1645920" cy="381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6217920"/>
            <a:ext cx="10545775" cy="1905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5135727" cy="2377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47699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  <a:latin typeface="Microsoft YaHei"/>
              </a:defRPr>
            </a:pPr>
            <a:r>
              <a:t>已完成工作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769967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✔ LQR轨迹跟踪器（直线/圆形/8字/悬停）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✔ 感知节点 perception_node（12扇区）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✔ 规则式避障规划器 rl_planner_node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✔ 实验日志节点 experiment_logger_node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✔ DQN智能体完整实现 + 训练管线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✔ 5次DQN训练运行，最佳成功率100%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✔ 启动脚本 start_sim.sh（多模式）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✔ 实验数据记录与CSV导出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371600"/>
            <a:ext cx="5135727" cy="2377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4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5887" y="1463040"/>
            <a:ext cx="47699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  <a:latin typeface="Microsoft YaHei"/>
              </a:defRPr>
            </a:pPr>
            <a:r>
              <a:t>进行中工作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5887" y="1828800"/>
            <a:ext cx="4769967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→ 多场景（S0-S3）系统化指标记录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→ DQN训练调参优化（提升稳定性）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→ 规则式 vs DQN 避障效果对比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→ 实验数据可视化（训练曲线图）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2336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Microsoft YaHei"/>
              </a:defRPr>
            </a:pPr>
            <a:r>
              <a:t>团队分工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32571" y="4434840"/>
            <a:ext cx="54864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74920"/>
            <a:ext cx="25678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t>陈鑫豪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49240"/>
            <a:ext cx="256786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ADCFC"/>
                </a:solidFill>
                <a:latin typeface="Microsoft YaHei"/>
              </a:defRPr>
            </a:pPr>
            <a:r>
              <a:t>组长/算法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91875" y="4434840"/>
            <a:ext cx="54864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2263" y="5074920"/>
            <a:ext cx="25678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t>万前进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2263" y="5349240"/>
            <a:ext cx="256786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ADCFC"/>
                </a:solidFill>
                <a:latin typeface="Microsoft YaHei"/>
              </a:defRPr>
            </a:pPr>
            <a:r>
              <a:t>实验测试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51179" y="4434840"/>
            <a:ext cx="54864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1567" y="5074920"/>
            <a:ext cx="25678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t>何俊峰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1567" y="5349240"/>
            <a:ext cx="256786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ADCFC"/>
                </a:solidFill>
                <a:latin typeface="Microsoft YaHei"/>
              </a:defRPr>
            </a:pPr>
            <a:r>
              <a:t>系统集成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10483" y="4434840"/>
            <a:ext cx="54864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00871" y="5074920"/>
            <a:ext cx="25678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t>李英楷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00871" y="5349240"/>
            <a:ext cx="256786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ADCFC"/>
                </a:solidFill>
                <a:latin typeface="Microsoft YaHei"/>
              </a:defRPr>
            </a:pPr>
            <a:r>
              <a:t>文档/PPT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Microsoft YaHei"/>
              </a:defRPr>
            </a:pPr>
            <a:r>
              <a:t>12  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1645920" cy="381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6217920"/>
            <a:ext cx="10545775" cy="1905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Microsoft YaHei"/>
              </a:defRPr>
            </a:pPr>
            <a:r>
              <a:t>项目总结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4577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① 构建了完整的ROS反无人机空地协同仿真系统（感知→决策→跟踪→执行）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② 实现LQR轨迹跟踪控制器，支持直线/圆形/8字形/悬停多种轨迹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③ 实现扇区特征感知节点和规则式避障规划器，具备实时避障能力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④ 完整实现DQN智能体（Q网络+目标网络+经验回放），训练管线就绪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⑤ 完成5次DQN训练实验，最佳运行在episode 120-200区间连续保持100%成功率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⑥ 建立实验日志系统，支持CSV记录和实验数据统计分析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2336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Microsoft YaHei"/>
              </a:defRPr>
            </a:pPr>
            <a:r>
              <a:t>后续计划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89120"/>
            <a:ext cx="1054577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① 完成DQN完整训练与评估，产出训练曲线和策略对比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② 实现A*/RRT全局路径规划基线，与RL方法进行对比实验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③ 在S0-S3四个场景下系统化评估，统计成功率/碰撞率等指标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④ 优化奖励函数和网络结构，提升避障策略的鲁棒性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⑤ 完善技术报告和实验文档，形成可复现的实验流程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感谢各位老师聆听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0C4E0"/>
                </a:solidFill>
                <a:latin typeface="Microsoft YaHei"/>
              </a:defRPr>
            </a:pPr>
            <a:r>
              <a:t>敬请老师批评指正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931920"/>
            <a:ext cx="2103120" cy="254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42976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5B0D0"/>
                </a:solidFill>
                <a:latin typeface="Microsoft YaHei"/>
              </a:defRPr>
            </a:pPr>
            <a:r>
              <a:t>第 12 组 · 陈鑫豪 / 万前进 / 何俊峰 / 李英楷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7548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5B0D0"/>
                </a:solidFill>
                <a:latin typeface="Microsoft YaHei"/>
              </a:defRPr>
            </a:pPr>
            <a:r>
              <a:t>指导老师：叶景贞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